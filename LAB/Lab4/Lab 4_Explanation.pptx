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342" r:id="rId2"/>
    <p:sldId id="343" r:id="rId3"/>
    <p:sldId id="344" r:id="rId4"/>
    <p:sldId id="345" r:id="rId5"/>
    <p:sldId id="346" r:id="rId6"/>
    <p:sldId id="355" r:id="rId7"/>
    <p:sldId id="347" r:id="rId8"/>
    <p:sldId id="348" r:id="rId9"/>
    <p:sldId id="349" r:id="rId10"/>
    <p:sldId id="350" r:id="rId11"/>
    <p:sldId id="351" r:id="rId12"/>
    <p:sldId id="352" r:id="rId13"/>
    <p:sldId id="353" r:id="rId14"/>
  </p:sldIdLst>
  <p:sldSz cx="9144000" cy="6858000" type="screen4x3"/>
  <p:notesSz cx="6950075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B5E"/>
    <a:srgbClr val="FF4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87794" autoAdjust="0"/>
  </p:normalViewPr>
  <p:slideViewPr>
    <p:cSldViewPr>
      <p:cViewPr varScale="1">
        <p:scale>
          <a:sx n="80" d="100"/>
          <a:sy n="80" d="100"/>
        </p:scale>
        <p:origin x="168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2/24/2021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0792165D-9BC7-4EF5-8798-FF48F28DDC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987B8AC0-1168-44FE-BD3B-C7A2B5F6AC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Instructions for editing school and department titles: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 Select from menu: View &gt; Master &gt; Slide Master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>
                <a:ea typeface="ＭＳ Ｐゴシック" panose="020B0600070205080204" pitchFamily="34" charset="-128"/>
              </a:rPr>
              <a:t> Click on each text area you wish to edit. Text will become editable.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29DDDDD6-AC90-4BEE-AACF-A8DC190E4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213BD4E-BDF9-485F-979F-BE9CA8519112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855077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FE3B29-D28C-4500-8E75-F9BEB6E42F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5A5421B0-E76D-4FE9-81E9-FCF1E8B31AAE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70E583-C026-421F-94AA-90A8187872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2B4C62-9BD2-45F4-8FE0-968C69E37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73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34BC38-71A1-40F8-BBBE-B3C36AE11F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C1591698-5692-4F64-96DA-BC8664A1FACE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40338A-A88A-436E-BC66-8083FFDBF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80A6CF-B105-4C98-8A86-C58F06591D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90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5CD82D-BAE5-4114-8D99-4854C94FEE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F9DAA163-E32D-496B-9AD0-12C99AE54BAC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8664AD-EA84-4926-B9B4-4DA509D4A9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1EE8C1-07B6-448A-B601-366A3696EA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47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981200"/>
            <a:ext cx="411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11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8401A-529C-479B-B2AD-3725111062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F69322A8-B35B-432D-87BC-05E263541D89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171E5-D1AB-47E0-AAE4-517998A2C8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06274-EFBD-42F2-A4C5-2DDD59F236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0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754" y="83447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754" y="209495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754" y="2734712"/>
            <a:ext cx="4040188" cy="3490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8579" y="209495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8579" y="2734712"/>
            <a:ext cx="4041775" cy="3490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43C286B-E353-4A75-AA01-5DC28AFBAF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A88A6679-AB62-442B-92DE-7C7BB1D26C60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D26222-D826-41B4-9870-4CBA8E2FB0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87155E6-77B3-4235-BB70-E2CB213CAC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79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77B7B7A-BC14-46A5-B3BA-C9F2EFCB58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5B396103-4A81-4001-95EE-DBAAF74AF753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61F61FA-14DF-4AE5-811F-A02B834719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58CDB0D-0D4B-4FFF-9A48-207FB76882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80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024C4C6-6696-4517-A419-2E79AAE0AF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F36B4F61-16A5-4811-ADEF-68305024CCD9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F15E03-A848-4451-ABEE-A007B64BB0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3FD6B7-FC00-4220-939C-3FE7AF7DAA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843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44" y="916445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6694" y="916446"/>
            <a:ext cx="5111750" cy="50486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8844" y="2078495"/>
            <a:ext cx="3008313" cy="40462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AB8B5-C6F8-4165-BC8E-FE712B4A5A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9682B906-43B6-4A5F-AED5-61154EC0953D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A3DB6-2766-4186-B845-3F5BE5D1F3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34B70-A53F-4C17-8515-D338B69E77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32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935845"/>
            <a:ext cx="5486400" cy="379172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7CEAC-A123-493F-A45A-31325C39A6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F2BD399A-2503-4820-8A8C-D6317F7945E8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64EA6-A94F-4181-ACD0-5842758872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49658-E825-4C70-A215-C50CEA8ED5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020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B22CCA-B011-4AA1-9939-71C07536C5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630D2EC5-FC87-4D79-88D4-7B4A03FEF118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29A82F-39DF-44D0-A8BE-EA11FD41C3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4A53FE-D2BA-4493-83A2-470CBF36F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07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914400"/>
            <a:ext cx="2095500" cy="4953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914400"/>
            <a:ext cx="6134100" cy="49530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39A365-B44F-4870-A076-02C468DAAE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B016400D-7927-467A-8A19-02FCC7664831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D2842B-B864-4F13-A0B0-F3149AC7CE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0605A4-5EDF-4399-98F7-E409EE8029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70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powerpoint-C sub.jpg">
            <a:extLst>
              <a:ext uri="{FF2B5EF4-FFF2-40B4-BE49-F238E27FC236}">
                <a16:creationId xmlns:a16="http://schemas.microsoft.com/office/drawing/2014/main" id="{2024BF8D-7A42-4892-825F-D263BBFF5C3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9B5136BD-959A-4EF7-9149-7CE8FA787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9300" y="914400"/>
            <a:ext cx="792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FA6967D7-B6EC-4525-83E3-C747C0DB9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9300" y="1981200"/>
            <a:ext cx="7924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on text regions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FC61DF2-6EAC-4251-A45E-753F9C19D8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0" y="62992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002B5E"/>
                </a:solidFill>
                <a:latin typeface="Georgia" pitchFamily="-112" charset="0"/>
                <a:ea typeface="ＭＳ Ｐゴシック" pitchFamily="-112" charset="-128"/>
              </a:defRPr>
            </a:lvl1pPr>
          </a:lstStyle>
          <a:p>
            <a:pPr eaLnBrk="1" latinLnBrk="0" hangingPunct="1"/>
            <a:fld id="{EB96B664-1D35-472B-BBA0-BA4B82C84D89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A93DFDD-2C70-49F2-926B-18CEC3F42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9300" y="6299200"/>
            <a:ext cx="62230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rgbClr val="002B5E"/>
                </a:solidFill>
                <a:latin typeface="Georgia" pitchFamily="-112" charset="0"/>
                <a:ea typeface="ＭＳ Ｐゴシック" pitchFamily="-112" charset="-128"/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1031" name="TextBox 8">
            <a:extLst>
              <a:ext uri="{FF2B5EF4-FFF2-40B4-BE49-F238E27FC236}">
                <a16:creationId xmlns:a16="http://schemas.microsoft.com/office/drawing/2014/main" id="{1018EACF-0605-41F8-9809-655AEF002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254000"/>
            <a:ext cx="4927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400" b="1">
                <a:solidFill>
                  <a:srgbClr val="002B5E"/>
                </a:solidFill>
                <a:latin typeface="Georgia" charset="0"/>
              </a:rPr>
              <a:t>Electrical and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429393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003E7E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003E7E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003E7E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003E7E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ts val="600"/>
        </a:spcAft>
        <a:buClr>
          <a:srgbClr val="000000"/>
        </a:buClr>
        <a:buChar char="•"/>
        <a:defRPr sz="3200">
          <a:solidFill>
            <a:srgbClr val="002B5E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ts val="1200"/>
        </a:spcAft>
        <a:buClr>
          <a:srgbClr val="000000"/>
        </a:buClr>
        <a:buChar char="–"/>
        <a:defRPr sz="2800">
          <a:solidFill>
            <a:srgbClr val="002B5E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ts val="1200"/>
        </a:spcAft>
        <a:buClr>
          <a:srgbClr val="000000"/>
        </a:buClr>
        <a:buChar char="•"/>
        <a:defRPr sz="2400">
          <a:solidFill>
            <a:srgbClr val="002B5E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ts val="1200"/>
        </a:spcAft>
        <a:buClr>
          <a:srgbClr val="000000"/>
        </a:buClr>
        <a:buChar char="–"/>
        <a:defRPr sz="2000">
          <a:solidFill>
            <a:srgbClr val="002B5E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ts val="1200"/>
        </a:spcAft>
        <a:buClr>
          <a:srgbClr val="000000"/>
        </a:buClr>
        <a:buChar char="»"/>
        <a:defRPr sz="2000">
          <a:solidFill>
            <a:srgbClr val="002B5E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E7E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E7E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E7E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E7E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7" descr="title-slide.jpg">
            <a:extLst>
              <a:ext uri="{FF2B5EF4-FFF2-40B4-BE49-F238E27FC236}">
                <a16:creationId xmlns:a16="http://schemas.microsoft.com/office/drawing/2014/main" id="{FE6E4AE2-6DDC-491E-9D9C-FC00D92A4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2">
            <a:extLst>
              <a:ext uri="{FF2B5EF4-FFF2-40B4-BE49-F238E27FC236}">
                <a16:creationId xmlns:a16="http://schemas.microsoft.com/office/drawing/2014/main" id="{ABD38D0C-452A-435D-835D-9472AB430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589" y="1651000"/>
            <a:ext cx="58547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Char char="•"/>
              <a:defRPr sz="32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–"/>
              <a:defRPr sz="28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•"/>
              <a:defRPr sz="24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–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3600" b="1" dirty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3600" b="1" dirty="0" smtClean="0">
                <a:solidFill>
                  <a:schemeClr val="bg1"/>
                </a:solidFill>
              </a:rPr>
              <a:t>Lab </a:t>
            </a:r>
            <a:r>
              <a:rPr lang="en-US" altLang="en-US" sz="3600" b="1" smtClean="0">
                <a:solidFill>
                  <a:schemeClr val="bg1"/>
                </a:solidFill>
              </a:rPr>
              <a:t>4 Keypad</a:t>
            </a:r>
            <a:endParaRPr lang="en-US" altLang="en-US" sz="3600" b="1" dirty="0">
              <a:solidFill>
                <a:schemeClr val="bg1"/>
              </a:solidFill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0DE18AB-B76B-468E-8EEF-6389A48B8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3676650"/>
            <a:ext cx="5486400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Char char="•"/>
              <a:defRPr sz="32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–"/>
              <a:defRPr sz="28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•"/>
              <a:defRPr sz="24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–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1200"/>
              </a:spcAft>
              <a:buClr>
                <a:srgbClr val="000000"/>
              </a:buClr>
              <a:buChar char="»"/>
              <a:defRPr sz="2000">
                <a:solidFill>
                  <a:srgbClr val="002B5E"/>
                </a:solidFill>
                <a:latin typeface="Georgia" panose="02040502050405020303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en-US" sz="1800">
                <a:solidFill>
                  <a:srgbClr val="CCCC90"/>
                </a:solidFill>
              </a:rPr>
              <a:t>Dr. Jingtong Hu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solidFill>
                  <a:srgbClr val="CCCC90"/>
                </a:solidFill>
              </a:rPr>
              <a:t>Department of Electrical and Computer Engineering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solidFill>
                  <a:srgbClr val="CCCC90"/>
                </a:solidFill>
              </a:rPr>
              <a:t>Swanson School of Engineering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solidFill>
                  <a:srgbClr val="CCCC90"/>
                </a:solidFill>
              </a:rPr>
              <a:t>jthu@pitt.edu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C11AC2-3AD6-4462-9644-D6FD5053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A3B8401-7E94-4AC1-8A37-FC8DD4DAB17D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1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800518"/>
            <a:ext cx="7924800" cy="838200"/>
          </a:xfrm>
        </p:spPr>
        <p:txBody>
          <a:bodyPr/>
          <a:lstStyle/>
          <a:p>
            <a:r>
              <a:rPr lang="en-US" sz="3200" dirty="0"/>
              <a:t>Keypad Scan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75021"/>
            <a:ext cx="3362325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805237" cy="4931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46C4-67BC-4170-AFA5-999F53EC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71D02BD-D9AB-49F7-B360-0513296034B9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FC6B8B-E13B-42B8-ACB8-382D3D610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2848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84" y="594468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0" y="2191434"/>
            <a:ext cx="32239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Step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/>
              <a:t>:  Set Output 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0000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/>
              <a:t>Step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800" dirty="0"/>
              <a:t>:  Read Input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111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3805237" cy="4931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62600" y="4147066"/>
            <a:ext cx="2174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⟹ </a:t>
            </a:r>
            <a:r>
              <a:rPr lang="en-US" sz="2000" dirty="0">
                <a:solidFill>
                  <a:srgbClr val="FF0000"/>
                </a:solidFill>
              </a:rPr>
              <a:t>No key pressed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17004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00824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77471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3216" y="460844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2600" y="609600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0800" y="613691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800" y="609600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CA51D6-D079-4664-8B40-552542AA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AE4DB47-4E77-4E5F-B507-E629DD995F20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A85C05AA-1C63-4A03-8DD9-F5AB649BBC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0204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8500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3362325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14562" y="4419600"/>
            <a:ext cx="604838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47800" y="5791200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Key “0” is pressed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388086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6781800" y="4953000"/>
            <a:ext cx="533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404E849F-8A01-4C69-B859-DFDC42C3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CBED1D8-77E3-4A62-8E63-795433B92416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4370B3F8-8AC5-4788-9CE8-555B264ED1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129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30879"/>
            <a:ext cx="388086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514600" y="5086246"/>
            <a:ext cx="609600" cy="723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648200" y="2438400"/>
            <a:ext cx="4038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:  Set Output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0000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/>
              <a:t>Step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000" dirty="0"/>
              <a:t>:  Read Input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101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⟹ Some key in 2</a:t>
            </a:r>
            <a:r>
              <a:rPr lang="en-US" sz="2000" baseline="30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nd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column is pressed down</a:t>
            </a:r>
            <a:endParaRPr lang="en-US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24170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5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16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8016" y="48554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1416" y="63429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9616" y="63838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1616" y="63429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BF20A3D8-129E-4A45-BDE8-67F3444716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9000" y="6546166"/>
            <a:ext cx="1447800" cy="457200"/>
          </a:xfrm>
        </p:spPr>
        <p:txBody>
          <a:bodyPr/>
          <a:lstStyle/>
          <a:p>
            <a:pPr eaLnBrk="1" latinLnBrk="0" hangingPunct="1"/>
            <a:fld id="{C70402CF-F41B-4FD9-9458-87F4874BE30E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51B3446-FCBE-4E33-998E-AF70EF1C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500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87A3E92-408A-4489-ADD4-21D7E7A6DC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9349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30879"/>
            <a:ext cx="388086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514600" y="5086246"/>
            <a:ext cx="609600" cy="723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648200" y="2438400"/>
            <a:ext cx="4038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:  Set Output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0000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/>
              <a:t>Step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000" dirty="0"/>
              <a:t>:  Read Input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101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⟹ Some key in 2</a:t>
            </a:r>
            <a:r>
              <a:rPr lang="en-US" sz="2000" baseline="30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nd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column is pressed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170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5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16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8016" y="48554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1416" y="63429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9616" y="63838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1616" y="63429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BF20A3D8-129E-4A45-BDE8-67F3444716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9000" y="6546166"/>
            <a:ext cx="1447800" cy="457200"/>
          </a:xfrm>
        </p:spPr>
        <p:txBody>
          <a:bodyPr/>
          <a:lstStyle/>
          <a:p>
            <a:pPr eaLnBrk="1" latinLnBrk="0" hangingPunct="1"/>
            <a:fld id="{C70402CF-F41B-4FD9-9458-87F4874BE30E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51B3446-FCBE-4E33-998E-AF70EF1C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500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87A3E92-408A-4489-ADD4-21D7E7A6DC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4B0D3-DDF6-404F-AD81-4B2B300EA465}"/>
              </a:ext>
            </a:extLst>
          </p:cNvPr>
          <p:cNvSpPr txBox="1"/>
          <p:nvPr/>
        </p:nvSpPr>
        <p:spPr>
          <a:xfrm>
            <a:off x="4800600" y="5290185"/>
            <a:ext cx="34387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Which one?</a:t>
            </a:r>
          </a:p>
        </p:txBody>
      </p:sp>
    </p:spTree>
    <p:extLst>
      <p:ext uri="{BB962C8B-B14F-4D97-AF65-F5344CB8AC3E}">
        <p14:creationId xmlns:p14="http://schemas.microsoft.com/office/powerpoint/2010/main" val="288247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30879"/>
            <a:ext cx="388086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514600" y="5086246"/>
            <a:ext cx="609600" cy="723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800600" y="2438400"/>
            <a:ext cx="395120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:  Set Output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0000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/>
              <a:t>Step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000" dirty="0"/>
              <a:t>:  Read Input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101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Step </a:t>
            </a:r>
            <a:r>
              <a:rPr lang="en-US" sz="2000" dirty="0" err="1">
                <a:solidFill>
                  <a:srgbClr val="FF0000"/>
                </a:solidFill>
              </a:rPr>
              <a:t>3a</a:t>
            </a:r>
            <a:r>
              <a:rPr lang="en-US" sz="2000" dirty="0">
                <a:solidFill>
                  <a:srgbClr val="FF0000"/>
                </a:solidFill>
              </a:rPr>
              <a:t>:  Scan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baseline="30000" dirty="0">
                <a:solidFill>
                  <a:srgbClr val="FF0000"/>
                </a:solidFill>
              </a:rPr>
              <a:t>st</a:t>
            </a:r>
            <a:r>
              <a:rPr lang="en-US" sz="2000" dirty="0">
                <a:solidFill>
                  <a:srgbClr val="FF0000"/>
                </a:solidFill>
              </a:rPr>
              <a:t> row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0111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111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⟹ No key in 1</a:t>
            </a:r>
            <a:r>
              <a:rPr lang="en-US" sz="2000" baseline="30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row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  is pressed down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24170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5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16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8016" y="48554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1416" y="63429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9616" y="63838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1616" y="63429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5" y="1694766"/>
            <a:ext cx="1688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Scan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b="1" baseline="30000" dirty="0">
                <a:solidFill>
                  <a:srgbClr val="FF0000"/>
                </a:solidFill>
              </a:rPr>
              <a:t>st</a:t>
            </a:r>
            <a:r>
              <a:rPr lang="en-US" sz="2000" b="1" dirty="0">
                <a:solidFill>
                  <a:srgbClr val="FF0000"/>
                </a:solidFill>
              </a:rPr>
              <a:t> row</a:t>
            </a:r>
          </a:p>
        </p:txBody>
      </p:sp>
      <p:cxnSp>
        <p:nvCxnSpPr>
          <p:cNvPr id="18" name="Straight Arrow Connector 17"/>
          <p:cNvCxnSpPr>
            <a:cxnSpLocks/>
          </p:cNvCxnSpPr>
          <p:nvPr/>
        </p:nvCxnSpPr>
        <p:spPr>
          <a:xfrm>
            <a:off x="4191000" y="4437966"/>
            <a:ext cx="6096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EAC655FB-4B9E-4B57-AE4D-0D4E3BEF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9000" y="6546166"/>
            <a:ext cx="1447800" cy="457200"/>
          </a:xfrm>
        </p:spPr>
        <p:txBody>
          <a:bodyPr/>
          <a:lstStyle/>
          <a:p>
            <a:pPr eaLnBrk="1" latinLnBrk="0" hangingPunct="1"/>
            <a:fld id="{FC2AD030-E004-4D73-ACDD-BE5061A4EEE7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DFDE0A7-75D4-4308-A664-A1F9FA98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500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46225739-8690-49D8-9B30-6B89B0977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5603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30879"/>
            <a:ext cx="388086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590800" y="5086246"/>
            <a:ext cx="609600" cy="723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257800" y="2438400"/>
            <a:ext cx="32239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Step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/>
              <a:t>:  Set Output 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0000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/>
              <a:t>Step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800" dirty="0"/>
              <a:t>:  Read Input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101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Step </a:t>
            </a:r>
            <a:r>
              <a:rPr lang="en-US" sz="1800" dirty="0" err="1">
                <a:solidFill>
                  <a:srgbClr val="FF0000"/>
                </a:solidFill>
              </a:rPr>
              <a:t>3b</a:t>
            </a:r>
            <a:r>
              <a:rPr lang="en-US" sz="1800" dirty="0">
                <a:solidFill>
                  <a:srgbClr val="FF0000"/>
                </a:solidFill>
              </a:rPr>
              <a:t>:  Scan 2</a:t>
            </a:r>
            <a:r>
              <a:rPr lang="en-US" sz="1800" baseline="30000" dirty="0">
                <a:solidFill>
                  <a:srgbClr val="FF0000"/>
                </a:solidFill>
              </a:rPr>
              <a:t>nd</a:t>
            </a:r>
            <a:r>
              <a:rPr lang="en-US" sz="1800" dirty="0">
                <a:solidFill>
                  <a:srgbClr val="FF0000"/>
                </a:solidFill>
              </a:rPr>
              <a:t> row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1011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111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⟹ No key in 2</a:t>
            </a:r>
            <a:r>
              <a:rPr lang="en-US" sz="1800" baseline="30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nd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row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  is pressed down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24170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3255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40216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4216" y="48554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7616" y="63429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5816" y="63838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816" y="63429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45" y="1694766"/>
            <a:ext cx="1744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Scan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000" b="1" baseline="30000" dirty="0">
                <a:solidFill>
                  <a:srgbClr val="FF0000"/>
                </a:solidFill>
              </a:rPr>
              <a:t>nd</a:t>
            </a:r>
            <a:r>
              <a:rPr lang="en-US" sz="2000" b="1" dirty="0">
                <a:solidFill>
                  <a:srgbClr val="FF0000"/>
                </a:solidFill>
              </a:rPr>
              <a:t> row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876800" y="4285059"/>
            <a:ext cx="381000" cy="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31DCF956-2ED1-4592-BE90-53466B63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0" y="6546166"/>
            <a:ext cx="1447800" cy="457200"/>
          </a:xfrm>
        </p:spPr>
        <p:txBody>
          <a:bodyPr/>
          <a:lstStyle/>
          <a:p>
            <a:pPr eaLnBrk="1" latinLnBrk="0" hangingPunct="1"/>
            <a:fld id="{BF97BCF9-B59D-4141-A6BA-AA8F193B6CAB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41F7BFC-1A49-430C-AF9D-46A61EC7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500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64E7CDA-95F4-4BCE-B041-77E689361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5183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26" y="1507079"/>
            <a:ext cx="388086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460526" y="5162446"/>
            <a:ext cx="609600" cy="723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127526" y="2514600"/>
            <a:ext cx="32239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Step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/>
              <a:t>:  Set Output 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0000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/>
              <a:t>Step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800" dirty="0"/>
              <a:t>:  Read Input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101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Step </a:t>
            </a:r>
            <a:r>
              <a:rPr lang="en-US" sz="1800" dirty="0" err="1">
                <a:solidFill>
                  <a:srgbClr val="FF0000"/>
                </a:solidFill>
              </a:rPr>
              <a:t>3c</a:t>
            </a:r>
            <a:r>
              <a:rPr lang="en-US" sz="1800" dirty="0">
                <a:solidFill>
                  <a:srgbClr val="FF0000"/>
                </a:solidFill>
              </a:rPr>
              <a:t>:  Scan 3</a:t>
            </a:r>
            <a:r>
              <a:rPr lang="en-US" sz="1800" baseline="30000" dirty="0">
                <a:solidFill>
                  <a:srgbClr val="FF0000"/>
                </a:solidFill>
              </a:rPr>
              <a:t>rd</a:t>
            </a:r>
            <a:r>
              <a:rPr lang="en-US" sz="1800" dirty="0">
                <a:solidFill>
                  <a:srgbClr val="FF0000"/>
                </a:solidFill>
              </a:rPr>
              <a:t> row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1101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111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⟹ No key in 3</a:t>
            </a:r>
            <a:r>
              <a:rPr lang="en-US" sz="1800" baseline="30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rd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row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  is pressed down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17526" y="2493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7526" y="33314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7526" y="40978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3942" y="49316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7342" y="64191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542" y="64600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7542" y="64191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71" y="1770966"/>
            <a:ext cx="1707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Scan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000" b="1" baseline="30000" dirty="0">
                <a:solidFill>
                  <a:srgbClr val="FF0000"/>
                </a:solidFill>
              </a:rPr>
              <a:t>rd</a:t>
            </a:r>
            <a:r>
              <a:rPr lang="en-US" sz="2000" b="1" dirty="0">
                <a:solidFill>
                  <a:srgbClr val="FF0000"/>
                </a:solidFill>
              </a:rPr>
              <a:t> row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746526" y="4361259"/>
            <a:ext cx="381000" cy="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B330EA3-3AFD-437A-B470-640EA3DF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84926" y="6622366"/>
            <a:ext cx="1447800" cy="457200"/>
          </a:xfrm>
        </p:spPr>
        <p:txBody>
          <a:bodyPr/>
          <a:lstStyle/>
          <a:p>
            <a:pPr eaLnBrk="1" latinLnBrk="0" hangingPunct="1"/>
            <a:fld id="{89399579-DAD4-4904-9C59-05F39B48C5E5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A19F502-94CC-40B9-9E9E-518251F3E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500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D49F46BA-C000-449E-B793-5D35DD9D91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946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07079"/>
            <a:ext cx="388086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590800" y="5162446"/>
            <a:ext cx="609600" cy="723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257800" y="2514600"/>
            <a:ext cx="322395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Step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/>
              <a:t>:  Set Output 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0000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/>
              <a:t>Step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800" dirty="0"/>
              <a:t>:  Read Input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101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Step </a:t>
            </a:r>
            <a:r>
              <a:rPr lang="en-US" sz="1800" dirty="0" err="1">
                <a:solidFill>
                  <a:srgbClr val="FF0000"/>
                </a:solidFill>
              </a:rPr>
              <a:t>3d</a:t>
            </a:r>
            <a:r>
              <a:rPr lang="en-US" sz="1800" dirty="0">
                <a:solidFill>
                  <a:srgbClr val="FF0000"/>
                </a:solidFill>
              </a:rPr>
              <a:t>:  Scan 4</a:t>
            </a:r>
            <a:r>
              <a:rPr lang="en-US" sz="1800" baseline="30000" dirty="0">
                <a:solidFill>
                  <a:srgbClr val="FF0000"/>
                </a:solidFill>
              </a:rPr>
              <a:t>th</a:t>
            </a:r>
            <a:r>
              <a:rPr lang="en-US" sz="1800" dirty="0">
                <a:solidFill>
                  <a:srgbClr val="FF0000"/>
                </a:solidFill>
              </a:rPr>
              <a:t> row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R1,R2,R3,R4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1110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C1,C2,C3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101</a:t>
            </a: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⟹ key in 4</a:t>
            </a:r>
            <a:r>
              <a:rPr lang="en-US" sz="1800" baseline="30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th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row</a:t>
            </a:r>
          </a:p>
          <a:p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  is pressed down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2493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33314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40978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4216" y="49316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7616" y="64191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5816" y="64600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816" y="64191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45" y="1770966"/>
            <a:ext cx="1795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Scan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000" b="1" baseline="30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row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876800" y="4361259"/>
            <a:ext cx="381000" cy="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8B6E0624-0782-4656-A1D9-BF19B391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0" y="6622366"/>
            <a:ext cx="1447800" cy="457200"/>
          </a:xfrm>
        </p:spPr>
        <p:txBody>
          <a:bodyPr/>
          <a:lstStyle/>
          <a:p>
            <a:pPr eaLnBrk="1" latinLnBrk="0" hangingPunct="1"/>
            <a:fld id="{047222DC-8CEF-4FD8-AFAF-436216DD1184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EA95EC4-53BA-4EA6-B28F-97C3C62F2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500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E64F4E61-6B20-4CCE-8760-A5C379FFC6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863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07079"/>
            <a:ext cx="388086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590799" y="5162446"/>
            <a:ext cx="609600" cy="723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257800" y="2514600"/>
            <a:ext cx="350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⟹ Key pressed is located at the second column and the fourth row.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799" y="2493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799" y="33314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799" y="40978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4215" y="49316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7615" y="64191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5815" y="646007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815" y="641916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8E36C7DF-E2AE-49F3-92D1-970D47BD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199" y="6622366"/>
            <a:ext cx="1447800" cy="457200"/>
          </a:xfrm>
        </p:spPr>
        <p:txBody>
          <a:bodyPr/>
          <a:lstStyle/>
          <a:p>
            <a:pPr eaLnBrk="1" latinLnBrk="0" hangingPunct="1"/>
            <a:fld id="{28ED6C55-485D-4633-90DD-4D079D20567F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99814C2-D142-4C76-925F-146F6D54D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500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0D2310F-AC96-4D45-9E5F-D8A458D5A2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8769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668" y="1219200"/>
            <a:ext cx="4581144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17DF7D-508E-433E-95FD-1C8AB8E3F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AFCDC12-6FA0-4A12-87A3-E15384455195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17D9648-028E-403A-8A9F-B5446919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500"/>
            <a:ext cx="7924800" cy="838200"/>
          </a:xfrm>
        </p:spPr>
        <p:txBody>
          <a:bodyPr/>
          <a:lstStyle/>
          <a:p>
            <a:r>
              <a:rPr lang="en-US" sz="2800" dirty="0"/>
              <a:t>Keypad Scan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8B8849E7-8B9E-4FA5-B934-DF41D35339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29550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99" y="685800"/>
            <a:ext cx="7924800" cy="838200"/>
          </a:xfrm>
        </p:spPr>
        <p:txBody>
          <a:bodyPr/>
          <a:lstStyle/>
          <a:p>
            <a:r>
              <a:rPr lang="en-US" sz="3200" dirty="0"/>
              <a:t>I/O Debouncing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61099" y="1524000"/>
            <a:ext cx="7924800" cy="3886200"/>
          </a:xfrm>
        </p:spPr>
        <p:txBody>
          <a:bodyPr/>
          <a:lstStyle/>
          <a:p>
            <a:r>
              <a:rPr lang="en-US" sz="2400" dirty="0"/>
              <a:t>Example signal when a button is pressed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94" y="1775638"/>
            <a:ext cx="5694198" cy="4271924"/>
          </a:xfrm>
          <a:prstGeom prst="rect">
            <a:avLst/>
          </a:prstGeom>
        </p:spPr>
      </p:pic>
      <p:sp>
        <p:nvSpPr>
          <p:cNvPr id="6" name="日期占位符 5">
            <a:extLst>
              <a:ext uri="{FF2B5EF4-FFF2-40B4-BE49-F238E27FC236}">
                <a16:creationId xmlns:a16="http://schemas.microsoft.com/office/drawing/2014/main" id="{D0839701-3054-4E57-A591-2F4037E8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4CCB66D-E558-4207-B3AF-78562C095EEC}" type="datetime3">
              <a:rPr lang="en-US" altLang="zh-CN" smtClean="0"/>
              <a:t>24 February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1FB1335-3AC9-4A86-9E9C-090504E846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856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Pitt_Slides_Them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eorgia"/>
        <a:ea typeface="ＭＳ Ｐゴシック"/>
        <a:cs typeface="ＭＳ Ｐゴシック"/>
      </a:majorFont>
      <a:minorFont>
        <a:latin typeface="Georgia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8" charset="0"/>
            <a:ea typeface="ＭＳ Ｐゴシック" pitchFamily="-108" charset="-128"/>
            <a:cs typeface="ＭＳ Ｐゴシック" pitchFamily="-10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8" charset="0"/>
            <a:ea typeface="ＭＳ Ｐゴシック" pitchFamily="-108" charset="-128"/>
            <a:cs typeface="ＭＳ Ｐゴシック" pitchFamily="-10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itt_Slides_Theme" id="{5158E785-2358-4A5E-A156-A989A03E7523}" vid="{F06A788E-8BBB-4A98-91E5-640BB865AA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Pitt_Slides_Theme</Template>
  <TotalTime>4618</TotalTime>
  <Words>445</Words>
  <Application>Microsoft Office PowerPoint</Application>
  <PresentationFormat>On-screen Show (4:3)</PresentationFormat>
  <Paragraphs>183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ＭＳ Ｐゴシック</vt:lpstr>
      <vt:lpstr>Arial</vt:lpstr>
      <vt:lpstr>Calibri</vt:lpstr>
      <vt:lpstr>Cambria Math</vt:lpstr>
      <vt:lpstr>Consolas</vt:lpstr>
      <vt:lpstr>Georgia</vt:lpstr>
      <vt:lpstr>Wingdings</vt:lpstr>
      <vt:lpstr>Pitt_Slides_Theme</vt:lpstr>
      <vt:lpstr>PowerPoint Presentation</vt:lpstr>
      <vt:lpstr>Keypad Scan</vt:lpstr>
      <vt:lpstr>Keypad Scan</vt:lpstr>
      <vt:lpstr>Keypad Scan</vt:lpstr>
      <vt:lpstr>Keypad Scan</vt:lpstr>
      <vt:lpstr>Keypad Scan</vt:lpstr>
      <vt:lpstr>Keypad Scan</vt:lpstr>
      <vt:lpstr>Keypad Scan</vt:lpstr>
      <vt:lpstr>Keypad Scan</vt:lpstr>
      <vt:lpstr>Keypad Scan</vt:lpstr>
      <vt:lpstr>Keypad Scan</vt:lpstr>
      <vt:lpstr>Keypad Scan</vt:lpstr>
      <vt:lpstr>I/O Debouncing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Jingtong Hu</cp:lastModifiedBy>
  <cp:revision>242</cp:revision>
  <cp:lastPrinted>2017-02-20T16:32:07Z</cp:lastPrinted>
  <dcterms:created xsi:type="dcterms:W3CDTF">2014-02-09T17:12:51Z</dcterms:created>
  <dcterms:modified xsi:type="dcterms:W3CDTF">2021-02-25T00:14:48Z</dcterms:modified>
</cp:coreProperties>
</file>