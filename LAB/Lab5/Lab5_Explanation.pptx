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364" r:id="rId2"/>
    <p:sldId id="347" r:id="rId3"/>
    <p:sldId id="352" r:id="rId4"/>
    <p:sldId id="354" r:id="rId5"/>
    <p:sldId id="355" r:id="rId6"/>
    <p:sldId id="356" r:id="rId7"/>
    <p:sldId id="366" r:id="rId8"/>
    <p:sldId id="357" r:id="rId9"/>
    <p:sldId id="365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3" autoAdjust="0"/>
    <p:restoredTop sz="75492" autoAdjust="0"/>
  </p:normalViewPr>
  <p:slideViewPr>
    <p:cSldViewPr>
      <p:cViewPr varScale="1">
        <p:scale>
          <a:sx n="68" d="100"/>
          <a:sy n="68" d="100"/>
        </p:scale>
        <p:origin x="213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3/8/2021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43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4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FE3B29-D28C-4500-8E75-F9BEB6E42F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BCBD9198-282A-41D3-BBD7-6C3E09006C03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70E583-C026-421F-94AA-90A8187872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2B4C62-9BD2-45F4-8FE0-968C69E37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34BC38-71A1-40F8-BBBE-B3C36AE11F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F4DE5D1A-E7D3-478D-93C3-2DFAF9303974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40338A-A88A-436E-BC66-8083FFDBF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80A6CF-B105-4C98-8A86-C58F06591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1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5CD82D-BAE5-4114-8D99-4854C94FE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D332B67C-BFF4-4D4B-9DB0-C176150E875E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8664AD-EA84-4926-B9B4-4DA509D4A9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1EE8C1-07B6-448A-B601-366A3696EA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9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981200"/>
            <a:ext cx="411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11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8401A-529C-479B-B2AD-3725111062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B1B42159-A3A3-4347-A537-31616730E88D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171E5-D1AB-47E0-AAE4-517998A2C8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06274-EFBD-42F2-A4C5-2DDD59F236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07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54" y="83447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754" y="209495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754" y="2734712"/>
            <a:ext cx="4040188" cy="3490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8579" y="209495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8579" y="2734712"/>
            <a:ext cx="4041775" cy="3490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43C286B-E353-4A75-AA01-5DC28AFBAF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0FE12B6F-AFC1-40E9-8C83-CEFDD807DCAB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D26222-D826-41B4-9870-4CBA8E2FB0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7155E6-77B3-4235-BB70-E2CB213CA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36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7B7B7A-BC14-46A5-B3BA-C9F2EFCB58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6FD8244D-4A34-4F75-BC73-9224E0E6DB22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61F61FA-14DF-4AE5-811F-A02B83471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58CDB0D-0D4B-4FFF-9A48-207FB76882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83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024C4C6-6696-4517-A419-2E79AAE0A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999F8FC8-0AAC-4674-9E2A-4E8DD2AFC3A5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F15E03-A848-4451-ABEE-A007B64BB0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3FD6B7-FC00-4220-939C-3FE7AF7DAA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7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844" y="916445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6694" y="916446"/>
            <a:ext cx="5111750" cy="504861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8844" y="2078495"/>
            <a:ext cx="3008313" cy="40462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AB8B5-C6F8-4165-BC8E-FE712B4A5A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B6B6FF89-9E54-47BF-8854-814703365755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A3DB6-2766-4186-B845-3F5BE5D1F3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34B70-A53F-4C17-8515-D338B69E77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51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35845"/>
            <a:ext cx="5486400" cy="379172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7CEAC-A123-493F-A45A-31325C39A6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57E9AA03-941E-4A16-88E3-5A9854D6F21D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64EA6-A94F-4181-ACD0-5842758872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49658-E825-4C70-A215-C50CEA8ED5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660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B22CCA-B011-4AA1-9939-71C07536C5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EBB95D08-ACFB-46D3-A2BF-4DEC460EB9C4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29A82F-39DF-44D0-A8BE-EA11FD41C3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4A53FE-D2BA-4493-83A2-470CBF36F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53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914400"/>
            <a:ext cx="20955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914400"/>
            <a:ext cx="6134100" cy="49530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39A365-B44F-4870-A076-02C468DAAE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latinLnBrk="0" hangingPunct="1"/>
            <a:fld id="{D1FAEE8B-B8F5-47E4-A5ED-444F9D2EE84D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D2842B-B864-4F13-A0B0-F3149AC7CE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0605A4-5EDF-4399-98F7-E409EE8029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299200"/>
            <a:ext cx="8382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charset="-128"/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89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powerpoint-C sub.jpg">
            <a:extLst>
              <a:ext uri="{FF2B5EF4-FFF2-40B4-BE49-F238E27FC236}">
                <a16:creationId xmlns:a16="http://schemas.microsoft.com/office/drawing/2014/main" id="{2024BF8D-7A42-4892-825F-D263BBFF5C3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9B5136BD-959A-4EF7-9149-7CE8FA787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9300" y="914400"/>
            <a:ext cx="792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FA6967D7-B6EC-4525-83E3-C747C0DB9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9300" y="1981200"/>
            <a:ext cx="7924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on text regions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FC61DF2-6EAC-4251-A45E-753F9C19D8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0" y="62992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002B5E"/>
                </a:solidFill>
                <a:latin typeface="Georgia" pitchFamily="-112" charset="0"/>
                <a:ea typeface="ＭＳ Ｐゴシック" pitchFamily="-112" charset="-128"/>
              </a:defRPr>
            </a:lvl1pPr>
          </a:lstStyle>
          <a:p>
            <a:pPr eaLnBrk="1" latinLnBrk="0" hangingPunct="1"/>
            <a:fld id="{F4E3A8D8-4EA1-4607-B6C8-EFA5B76698AD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A93DFDD-2C70-49F2-926B-18CEC3F42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9300" y="6299200"/>
            <a:ext cx="6223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002B5E"/>
                </a:solidFill>
                <a:latin typeface="Georgia" pitchFamily="-112" charset="0"/>
                <a:ea typeface="ＭＳ Ｐゴシック" pitchFamily="-112" charset="-128"/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1031" name="TextBox 8">
            <a:extLst>
              <a:ext uri="{FF2B5EF4-FFF2-40B4-BE49-F238E27FC236}">
                <a16:creationId xmlns:a16="http://schemas.microsoft.com/office/drawing/2014/main" id="{1018EACF-0605-41F8-9809-655AEF002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254000"/>
            <a:ext cx="4927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400" b="1">
                <a:solidFill>
                  <a:srgbClr val="002B5E"/>
                </a:solidFill>
                <a:latin typeface="Georgia" charset="0"/>
              </a:rPr>
              <a:t>Electrical and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189887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948151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003E7E"/>
          </a:solidFill>
          <a:latin typeface="Georgia" pitchFamily="-108" charset="0"/>
          <a:ea typeface="ＭＳ Ｐゴシック" pitchFamily="-108" charset="-128"/>
          <a:cs typeface="ＭＳ Ｐゴシック" pitchFamily="-108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ts val="600"/>
        </a:spcAft>
        <a:buClr>
          <a:srgbClr val="000000"/>
        </a:buClr>
        <a:buChar char="•"/>
        <a:defRPr sz="3200">
          <a:solidFill>
            <a:srgbClr val="002B5E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–"/>
        <a:defRPr sz="2800">
          <a:solidFill>
            <a:srgbClr val="002B5E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•"/>
        <a:defRPr sz="2400">
          <a:solidFill>
            <a:srgbClr val="002B5E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–"/>
        <a:defRPr sz="2000">
          <a:solidFill>
            <a:srgbClr val="002B5E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ts val="1200"/>
        </a:spcAft>
        <a:buClr>
          <a:srgbClr val="000000"/>
        </a:buClr>
        <a:buChar char="»"/>
        <a:defRPr sz="2000">
          <a:solidFill>
            <a:srgbClr val="002B5E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3E7E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800518"/>
            <a:ext cx="7924800" cy="838200"/>
          </a:xfrm>
        </p:spPr>
        <p:txBody>
          <a:bodyPr/>
          <a:lstStyle/>
          <a:p>
            <a:r>
              <a:rPr lang="en-US" sz="3200" dirty="0"/>
              <a:t>Lab </a:t>
            </a:r>
            <a:r>
              <a:rPr lang="en-US" sz="3200" dirty="0" smtClean="0"/>
              <a:t>05 </a:t>
            </a:r>
            <a:r>
              <a:rPr lang="en-US" sz="3200" dirty="0"/>
              <a:t>Stepper Motor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2570F-E34F-4074-B5C8-F7C3BE285702}"/>
              </a:ext>
            </a:extLst>
          </p:cNvPr>
          <p:cNvSpPr txBox="1"/>
          <p:nvPr/>
        </p:nvSpPr>
        <p:spPr>
          <a:xfrm>
            <a:off x="698500" y="2209800"/>
            <a:ext cx="5529078" cy="716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Operating Principle of Stepper Motor</a:t>
            </a:r>
          </a:p>
        </p:txBody>
      </p:sp>
    </p:spTree>
    <p:extLst>
      <p:ext uri="{BB962C8B-B14F-4D97-AF65-F5344CB8AC3E}">
        <p14:creationId xmlns:p14="http://schemas.microsoft.com/office/powerpoint/2010/main" val="183631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pic>
        <p:nvPicPr>
          <p:cNvPr id="8" name="Picture 7" descr="http://www.modmypi.com/image/cache/data/rpi-products/hacking-and-prototyping/motors-robotics/28byj-stepper-motor-wiring-diagram-800x609.png">
            <a:extLst>
              <a:ext uri="{FF2B5EF4-FFF2-40B4-BE49-F238E27FC236}">
                <a16:creationId xmlns:a16="http://schemas.microsoft.com/office/drawing/2014/main" id="{908179DC-A21D-44B3-81DD-3916D7FD0CD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2" y="2438400"/>
            <a:ext cx="3401508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CF12AA8C-A933-44A5-89C0-3B2DC6B7C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4621" y="2057400"/>
            <a:ext cx="992104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E837C2F-CF7D-4BEE-AEEF-1F05CA62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5800"/>
            <a:ext cx="6553200" cy="762000"/>
          </a:xfrm>
        </p:spPr>
        <p:txBody>
          <a:bodyPr/>
          <a:lstStyle/>
          <a:p>
            <a:r>
              <a:rPr lang="en-US" sz="2400" dirty="0"/>
              <a:t>Inner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B95903-B056-4BB6-8695-C260167EE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1335832"/>
            <a:ext cx="5219700" cy="47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6553200" cy="762000"/>
          </a:xfrm>
        </p:spPr>
        <p:txBody>
          <a:bodyPr/>
          <a:lstStyle/>
          <a:p>
            <a:r>
              <a:rPr lang="en-US" sz="2400" dirty="0"/>
              <a:t>Inner Structure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49893-31E8-4A59-A0C9-035E6ABD5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560414"/>
            <a:ext cx="5219700" cy="47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51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72" y="590127"/>
            <a:ext cx="6553200" cy="762000"/>
          </a:xfrm>
        </p:spPr>
        <p:txBody>
          <a:bodyPr/>
          <a:lstStyle/>
          <a:p>
            <a:r>
              <a:rPr lang="en-US" sz="2000" dirty="0"/>
              <a:t>Full-Stepping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3600" y="6290019"/>
            <a:ext cx="1447800" cy="457200"/>
          </a:xfrm>
        </p:spPr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16139-D8FA-41C7-B70E-3558C7E10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78" y="1454450"/>
            <a:ext cx="2113922" cy="2464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8CAFBA-D9A7-4549-B106-DC890119C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47800"/>
            <a:ext cx="2113923" cy="2483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3767CB-DB82-4268-A0DD-F1A08B867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78" y="4038952"/>
            <a:ext cx="2127423" cy="2464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0F7AB5-9452-45C2-A415-3E044CFF4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700" y="4035451"/>
            <a:ext cx="2127423" cy="24475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2BAD9D-57D3-4F7C-8A12-0EE5D859B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2529" y="2806221"/>
            <a:ext cx="3765764" cy="20220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3C6D-91C7-4A6F-972E-8A3696B438CE}"/>
                  </a:ext>
                </a:extLst>
              </p:cNvPr>
              <p:cNvSpPr txBox="1"/>
              <p:nvPr/>
            </p:nvSpPr>
            <p:spPr>
              <a:xfrm>
                <a:off x="117972" y="1071674"/>
                <a:ext cx="4456413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Coil activation sequence: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3C6D-91C7-4A6F-972E-8A3696B43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2" y="1071674"/>
                <a:ext cx="4456413" cy="400815"/>
              </a:xfrm>
              <a:prstGeom prst="rect">
                <a:avLst/>
              </a:prstGeom>
              <a:blipFill>
                <a:blip r:embed="rId7"/>
                <a:stretch>
                  <a:fillRect l="-1094" t="-1515" r="-4651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02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72" y="590127"/>
            <a:ext cx="6553200" cy="762000"/>
          </a:xfrm>
        </p:spPr>
        <p:txBody>
          <a:bodyPr/>
          <a:lstStyle/>
          <a:p>
            <a:r>
              <a:rPr lang="en-US" sz="2000" dirty="0"/>
              <a:t>Half-Stepping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3600" y="6290019"/>
            <a:ext cx="1447800" cy="457200"/>
          </a:xfrm>
        </p:spPr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3C6D-91C7-4A6F-972E-8A3696B438CE}"/>
                  </a:ext>
                </a:extLst>
              </p:cNvPr>
              <p:cNvSpPr txBox="1"/>
              <p:nvPr/>
            </p:nvSpPr>
            <p:spPr>
              <a:xfrm>
                <a:off x="117972" y="1071674"/>
                <a:ext cx="5678093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Coil activation sequence: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acc>
                    <m:r>
                      <a:rPr lang="en-US" sz="200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000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3C6D-91C7-4A6F-972E-8A3696B43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2" y="1071674"/>
                <a:ext cx="5678093" cy="400815"/>
              </a:xfrm>
              <a:prstGeom prst="rect">
                <a:avLst/>
              </a:prstGeom>
              <a:blipFill>
                <a:blip r:embed="rId2"/>
                <a:stretch>
                  <a:fillRect l="-858" t="-1515" r="-215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671046A-CBD1-4286-AB46-72BEAAF19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82" y="4418943"/>
            <a:ext cx="7310335" cy="21310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7B117F-EC7E-4074-B677-2E40A75CC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03580"/>
            <a:ext cx="2276475" cy="26003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1D8E0D-41D4-4764-9D96-2040493B9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475" y="1603579"/>
            <a:ext cx="2276475" cy="26003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380E9E7-D25F-4D2F-BDEC-1BD2B0D4C9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3065" y="1603578"/>
            <a:ext cx="2286000" cy="26003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6B5072-9930-4C2B-9655-F70F5162C0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1424" y="1603578"/>
            <a:ext cx="2247900" cy="2600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FCE88E-74B4-4D5D-BB98-99A46A13F66B}"/>
                  </a:ext>
                </a:extLst>
              </p:cNvPr>
              <p:cNvSpPr txBox="1"/>
              <p:nvPr/>
            </p:nvSpPr>
            <p:spPr>
              <a:xfrm>
                <a:off x="3200400" y="714515"/>
                <a:ext cx="1898020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FCE88E-74B4-4D5D-BB98-99A46A13F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714515"/>
                <a:ext cx="1898020" cy="400815"/>
              </a:xfrm>
              <a:prstGeom prst="rect">
                <a:avLst/>
              </a:prstGeom>
              <a:blipFill>
                <a:blip r:embed="rId8"/>
                <a:stretch>
                  <a:fillRect r="-10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9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72" y="590127"/>
            <a:ext cx="6553200" cy="762000"/>
          </a:xfrm>
        </p:spPr>
        <p:txBody>
          <a:bodyPr/>
          <a:lstStyle/>
          <a:p>
            <a:r>
              <a:rPr lang="en-US" sz="2000" dirty="0"/>
              <a:t>Half-Stepping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3600" y="6290019"/>
            <a:ext cx="1447800" cy="457200"/>
          </a:xfrm>
        </p:spPr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3C6D-91C7-4A6F-972E-8A3696B438CE}"/>
                  </a:ext>
                </a:extLst>
              </p:cNvPr>
              <p:cNvSpPr txBox="1"/>
              <p:nvPr/>
            </p:nvSpPr>
            <p:spPr>
              <a:xfrm>
                <a:off x="117972" y="1071674"/>
                <a:ext cx="5678093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/>
                  <a:t>Coil activation sequence: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acc>
                    <m:r>
                      <a:rPr lang="en-US" sz="200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000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3C6D-91C7-4A6F-972E-8A3696B43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2" y="1071674"/>
                <a:ext cx="5678093" cy="400815"/>
              </a:xfrm>
              <a:prstGeom prst="rect">
                <a:avLst/>
              </a:prstGeom>
              <a:blipFill>
                <a:blip r:embed="rId2"/>
                <a:stretch>
                  <a:fillRect l="-858" t="-1515" r="-215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671046A-CBD1-4286-AB46-72BEAAF19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82" y="4418943"/>
            <a:ext cx="7310335" cy="2131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0F0323-4339-48B1-965A-50C2BB6AF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07980"/>
            <a:ext cx="2286000" cy="2619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4E50BD-DDF4-4372-BEAA-AB1AD4939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572" y="1607980"/>
            <a:ext cx="2286000" cy="261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E56006-CBF1-4569-9233-6DD8C44956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430" y="1602297"/>
            <a:ext cx="2286000" cy="2619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26D4BB-E4E3-4CEB-B8C6-C58E3EF65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373" y="1602297"/>
            <a:ext cx="228600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3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AEA9-EF20-6E45-9CE9-7D3C676F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914400"/>
            <a:ext cx="8242300" cy="838200"/>
          </a:xfrm>
        </p:spPr>
        <p:txBody>
          <a:bodyPr/>
          <a:lstStyle/>
          <a:p>
            <a:r>
              <a:rPr lang="en-US" altLang="zh-CN" dirty="0"/>
              <a:t>Number of </a:t>
            </a:r>
            <a:r>
              <a:rPr lang="en-US" dirty="0"/>
              <a:t>Steps for a Revolution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639CF-4ECC-3145-8AE4-F33D00ED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4DE5D1A-E7D3-478D-93C3-2DFAF9303974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59435-48C5-DF44-A6A0-B81E852107F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" y="1861539"/>
            <a:ext cx="6007100" cy="4286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812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72" y="590127"/>
            <a:ext cx="6553200" cy="762000"/>
          </a:xfrm>
        </p:spPr>
        <p:txBody>
          <a:bodyPr/>
          <a:lstStyle/>
          <a:p>
            <a:r>
              <a:rPr lang="en-US" altLang="zh-CN" sz="2400" dirty="0"/>
              <a:t>Number of </a:t>
            </a:r>
            <a:r>
              <a:rPr lang="en-US" sz="2400" dirty="0"/>
              <a:t>Steps for a Revolution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73533" y="6533617"/>
            <a:ext cx="1447800" cy="457200"/>
          </a:xfrm>
        </p:spPr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13C6D-91C7-4A6F-972E-8A3696B438CE}"/>
              </a:ext>
            </a:extLst>
          </p:cNvPr>
          <p:cNvSpPr txBox="1"/>
          <p:nvPr/>
        </p:nvSpPr>
        <p:spPr>
          <a:xfrm>
            <a:off x="0" y="1605494"/>
            <a:ext cx="39952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Arial" panose="020B0604020202020204" pitchFamily="34" charset="0"/>
              </a:rPr>
              <a:t>Rotor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8 </a:t>
            </a:r>
            <a:r>
              <a:rPr lang="en-US" sz="2000" dirty="0">
                <a:cs typeface="Arial" panose="020B0604020202020204" pitchFamily="34" charset="0"/>
              </a:rPr>
              <a:t>pairs of poles, not 1 pair.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517E83-688D-4204-98C4-B456304FD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208" y="3926177"/>
            <a:ext cx="2755915" cy="27625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9653B8-465D-4983-AC9F-5E91EC9C3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382" y="863578"/>
            <a:ext cx="3006618" cy="27625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50D28C-DB4D-4DF6-A73C-E4DB2764F22F}"/>
              </a:ext>
            </a:extLst>
          </p:cNvPr>
          <p:cNvSpPr txBox="1"/>
          <p:nvPr/>
        </p:nvSpPr>
        <p:spPr>
          <a:xfrm>
            <a:off x="12877" y="2544901"/>
            <a:ext cx="578075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Arial" panose="020B0604020202020204" pitchFamily="34" charset="0"/>
              </a:rPr>
              <a:t>Full-stepping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Internal motor: 4</a:t>
            </a:r>
            <a:r>
              <a:rPr 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*8</a:t>
            </a:r>
            <a:r>
              <a:rPr lang="en-US" sz="2000" dirty="0">
                <a:cs typeface="Arial" panose="020B0604020202020204" pitchFamily="34" charset="0"/>
              </a:rPr>
              <a:t>=32 steps per revolution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Arial" panose="020B0604020202020204" pitchFamily="34" charset="0"/>
              </a:rPr>
              <a:t>Gear ratio: 64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Total: 32*64=2048 steps per revolution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Arial" panose="020B0604020202020204" pitchFamily="34" charset="0"/>
              </a:rPr>
              <a:t>Half-stepping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Internal motor: </a:t>
            </a:r>
            <a:r>
              <a:rPr lang="en-US" altLang="zh-CN" sz="2000" dirty="0">
                <a:cs typeface="Arial" panose="020B0604020202020204" pitchFamily="34" charset="0"/>
              </a:rPr>
              <a:t>8</a:t>
            </a:r>
            <a:r>
              <a:rPr 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*8</a:t>
            </a:r>
            <a:r>
              <a:rPr lang="en-US" sz="2000" dirty="0">
                <a:cs typeface="Arial" panose="020B0604020202020204" pitchFamily="34" charset="0"/>
              </a:rPr>
              <a:t>=64 steps per revolution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Arial" panose="020B0604020202020204" pitchFamily="34" charset="0"/>
              </a:rPr>
              <a:t>Gear ratio: 64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Total: 64*64=4096 steps per revolution </a:t>
            </a:r>
          </a:p>
          <a:p>
            <a:pPr lvl="1"/>
            <a:r>
              <a:rPr lang="en-US" sz="2000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754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46C4-67BC-4170-AFA5-999F53EC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71D02BD-D9AB-49F7-B360-0513296034B9}" type="datetime3">
              <a:rPr lang="en-US" altLang="zh-CN" smtClean="0"/>
              <a:t>8 March 2021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FC6B8B-E13B-42B8-ACB8-382D3D610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381000" y="6356350"/>
            <a:ext cx="635001" cy="400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3D83EE-22B2-4778-911C-3CE839B4A1DF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pic>
        <p:nvPicPr>
          <p:cNvPr id="8" name="Picture 7" descr="http://www.modmypi.com/image/cache/data/rpi-products/hacking-and-prototyping/motors-robotics/28byj-stepper-motor-wiring-diagram-800x609.png">
            <a:extLst>
              <a:ext uri="{FF2B5EF4-FFF2-40B4-BE49-F238E27FC236}">
                <a16:creationId xmlns:a16="http://schemas.microsoft.com/office/drawing/2014/main" id="{908179DC-A21D-44B3-81DD-3916D7FD0CD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2" y="2438400"/>
            <a:ext cx="3401508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CF12AA8C-A933-44A5-89C0-3B2DC6B7C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4621" y="2057400"/>
            <a:ext cx="992104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0D6B25B-2E4D-4733-BD61-395AAF82DB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4065" y="1828801"/>
          <a:ext cx="6036315" cy="386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r:id="rId5" imgW="5620880" imgH="3600756" progId="Visio.Drawing.11">
                  <p:embed/>
                </p:oleObj>
              </mc:Choice>
              <mc:Fallback>
                <p:oleObj r:id="rId5" imgW="5620880" imgH="3600756" progId="Visio.Drawing.11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0D6B25B-2E4D-4733-BD61-395AAF82DB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065" y="1828801"/>
                        <a:ext cx="6036315" cy="38607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EE837C2F-CF7D-4BEE-AEEF-1F05CA62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5800"/>
            <a:ext cx="6553200" cy="762000"/>
          </a:xfrm>
        </p:spPr>
        <p:txBody>
          <a:bodyPr/>
          <a:lstStyle/>
          <a:p>
            <a:r>
              <a:rPr lang="en-US" sz="2400" dirty="0"/>
              <a:t>Inner Structure</a:t>
            </a:r>
          </a:p>
        </p:txBody>
      </p:sp>
    </p:spTree>
    <p:extLst>
      <p:ext uri="{BB962C8B-B14F-4D97-AF65-F5344CB8AC3E}">
        <p14:creationId xmlns:p14="http://schemas.microsoft.com/office/powerpoint/2010/main" val="760824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itt_Slides_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eorgia"/>
        <a:ea typeface="ＭＳ Ｐゴシック"/>
        <a:cs typeface="ＭＳ Ｐゴシック"/>
      </a:majorFont>
      <a:minorFont>
        <a:latin typeface="Georgia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  <a:ea typeface="ＭＳ Ｐゴシック" pitchFamily="-108" charset="-128"/>
            <a:cs typeface="ＭＳ Ｐゴシック" pitchFamily="-10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itt_Slides_Theme" id="{5158E785-2358-4A5E-A156-A989A03E7523}" vid="{F06A788E-8BBB-4A98-91E5-640BB865AA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Pitt_Slides_Theme</Template>
  <TotalTime>98</TotalTime>
  <Words>204</Words>
  <Application>Microsoft Office PowerPoint</Application>
  <PresentationFormat>On-screen Show (4:3)</PresentationFormat>
  <Paragraphs>45</Paragraphs>
  <Slides>9</Slides>
  <Notes>2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Calibri</vt:lpstr>
      <vt:lpstr>Cambria Math</vt:lpstr>
      <vt:lpstr>Georgia</vt:lpstr>
      <vt:lpstr>Pitt_Slides_Theme</vt:lpstr>
      <vt:lpstr>Visio.Drawing.11</vt:lpstr>
      <vt:lpstr>Lab 05 Stepper Motor</vt:lpstr>
      <vt:lpstr>Inner Structure</vt:lpstr>
      <vt:lpstr>Inner Structure</vt:lpstr>
      <vt:lpstr>Full-Stepping</vt:lpstr>
      <vt:lpstr>Half-Stepping</vt:lpstr>
      <vt:lpstr>Half-Stepping</vt:lpstr>
      <vt:lpstr>Number of Steps for a Revolution</vt:lpstr>
      <vt:lpstr>Number of Steps for a Revolution</vt:lpstr>
      <vt:lpstr>Inner Structure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1770</dc:title>
  <dc:creator>yawen.wu@pitt.edu</dc:creator>
  <cp:lastModifiedBy>Jingtong Hu</cp:lastModifiedBy>
  <cp:revision>400</cp:revision>
  <dcterms:created xsi:type="dcterms:W3CDTF">2014-02-05T02:41:42Z</dcterms:created>
  <dcterms:modified xsi:type="dcterms:W3CDTF">2021-03-09T00:56:49Z</dcterms:modified>
</cp:coreProperties>
</file>